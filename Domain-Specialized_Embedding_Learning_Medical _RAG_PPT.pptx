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98" r:id="rId3"/>
    <p:sldId id="297" r:id="rId4"/>
    <p:sldId id="267" r:id="rId5"/>
    <p:sldId id="300" r:id="rId6"/>
    <p:sldId id="278" r:id="rId7"/>
    <p:sldId id="271" r:id="rId8"/>
    <p:sldId id="294" r:id="rId9"/>
    <p:sldId id="292" r:id="rId10"/>
    <p:sldId id="296" r:id="rId11"/>
    <p:sldId id="293" r:id="rId12"/>
    <p:sldId id="277" r:id="rId13"/>
    <p:sldId id="305" r:id="rId14"/>
    <p:sldId id="266" r:id="rId15"/>
  </p:sldIdLst>
  <p:sldSz cx="12192000" cy="6858000"/>
  <p:notesSz cx="6858000" cy="9144000"/>
  <p:embeddedFontLst>
    <p:embeddedFont>
      <p:font typeface="Arial Black" panose="020B0A04020102020204" pitchFamily="3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TLDGHvM+HwTUdv0P13/pSb8dBb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o Qiang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C1D35-A893-4D44-826D-DA9901046DFD}">
  <a:tblStyle styleId="{C0BC1D35-A893-4D44-826D-DA9901046D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6" autoAdjust="0"/>
    <p:restoredTop sz="87167" autoAdjust="0"/>
  </p:normalViewPr>
  <p:slideViewPr>
    <p:cSldViewPr snapToGrid="0">
      <p:cViewPr varScale="1">
        <p:scale>
          <a:sx n="111" d="100"/>
          <a:sy n="111" d="100"/>
        </p:scale>
        <p:origin x="552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aec8ff10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caec8ff10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2EF9FDA-EFBB-68C4-E9CA-D95DE073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7522F589-17BF-9A1C-72E3-305A6146C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dirty="0">
                <a:highlight>
                  <a:srgbClr val="F6F6F6"/>
                </a:highlight>
              </a:rPr>
              <a:t>We need systems that are not just smart, but trustworthy.</a:t>
            </a:r>
          </a:p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050" dirty="0">
                <a:solidFill>
                  <a:schemeClr val="dk1"/>
                </a:solidFill>
              </a:rPr>
              <a:t>AI Spectrum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ANI: Narrow, task-specific Intelligence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AGI: Human-level general Intelligence 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ASI: Beyond human Intelligence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BC15A47D-2435-33FD-BC23-2FA4E5F13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13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5AB3910-01F4-5964-63D8-6CDCA301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F344105D-422C-1ECD-36E5-9799A42F8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dirty="0">
                <a:highlight>
                  <a:srgbClr val="F6F6F6"/>
                </a:highlight>
              </a:rPr>
              <a:t>We need systems that are not just smart, but trustworthy.</a:t>
            </a:r>
          </a:p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050" dirty="0">
                <a:solidFill>
                  <a:schemeClr val="dk1"/>
                </a:solidFill>
              </a:rPr>
              <a:t>AI Spectrum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ANI: Narrow, task-specific Intelligence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AGI: Human-level general Intelligence 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ASI: Beyond human Intelligence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F67A9B4D-AB9A-3A4B-93A6-4C4AA1B0F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88F633-67BC-C88D-0B35-F54F9DB6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BF89CA8C-FAD3-9E1A-F1A7-A548FC74E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0167947F-9811-A179-56E8-B716329B2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634A16F-337B-79F0-D26F-3D3AA38F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445ECE42-9E5A-0616-79FB-B440FDFCE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dirty="0">
                <a:highlight>
                  <a:srgbClr val="F6F6F6"/>
                </a:highlight>
              </a:rPr>
              <a:t>We need systems that are not just smart, but trustworthy.</a:t>
            </a:r>
          </a:p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050" dirty="0">
                <a:solidFill>
                  <a:schemeClr val="dk1"/>
                </a:solidFill>
              </a:rPr>
              <a:t>AI Spectrum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ANI: Narrow, task-specific Intelligence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AGI: Human-level general Intelligence 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sz="1050" dirty="0">
                <a:solidFill>
                  <a:schemeClr val="dk1"/>
                </a:solidFill>
              </a:rPr>
              <a:t>ASI: Beyond human Intelligence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69C62A98-100F-1BF6-4D51-459CF9DE8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756BAB7-D1E4-2A55-3602-E805FB48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47B08F8A-20D4-8CE4-0EA0-748CD34E4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FF1314E8-DCA6-4C14-E1B9-46ACC1A19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27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CEFFCC-5944-5317-1030-ADE5CB9B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E5E27036-5BC6-5096-6AB4-CBCAEB958B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276C16D3-682E-4122-0094-8604525BC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25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472E946-757B-503C-5D2A-365F3DB5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BF50CBB3-4662-DA92-F3CB-55F6008B9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80E51FBF-F6C6-DB6E-92D1-969935999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78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3380CA3-B157-6326-A641-72669FF2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BEFEAC5F-7CD1-62B6-1F39-68A8CA315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highlight>
                  <a:srgbClr val="F6F6F6"/>
                </a:highlight>
                <a:latin typeface="Calibri"/>
                <a:ea typeface="Calibri"/>
                <a:cs typeface="Calibri"/>
                <a:sym typeface="Calibri"/>
              </a:rPr>
              <a:t> By putting the rank of the document in the denominator, it penalizes the documents that are ranked lower in the list.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highlight>
                <a:srgbClr val="F6F6F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https://docs.weaviate.io/weaviate/concepts/search/hybrid-search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highlight>
                  <a:srgbClr val="F6F6F6"/>
                </a:highlight>
                <a:latin typeface="Roboto"/>
                <a:ea typeface="Roboto"/>
                <a:cs typeface="Roboto"/>
                <a:sym typeface="Roboto"/>
              </a:rPr>
              <a:t>https://weaviate.io/blog/hybrid-search-explained</a:t>
            </a: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DECC5756-DED9-3A2D-B4B6-84550B63F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4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007AAEB-D2FB-A607-3BE7-1636215C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E23AE8FA-584D-2C9F-61B6-ADC4EA0DD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highlight>
                  <a:srgbClr val="F6F6F6"/>
                </a:highlight>
                <a:latin typeface="Calibri"/>
                <a:ea typeface="Calibri"/>
                <a:cs typeface="Calibri"/>
                <a:sym typeface="Calibri"/>
              </a:rPr>
              <a:t> By putting the rank of the document in the denominator, it penalizes the documents that are ranked lower in the list.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highlight>
                <a:srgbClr val="F6F6F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https://docs.weaviate.io/weaviate/concepts/search/hybrid-search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highlight>
                  <a:srgbClr val="F6F6F6"/>
                </a:highlight>
                <a:latin typeface="Roboto"/>
                <a:ea typeface="Roboto"/>
                <a:cs typeface="Roboto"/>
                <a:sym typeface="Roboto"/>
              </a:rPr>
              <a:t>https://weaviate.io/blog/hybrid-search-explained</a:t>
            </a: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D6C15C4E-EB88-C0D8-976F-8AF650AC3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21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604B252-E973-4B41-6569-DAD9B645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91E7EA9A-4441-8664-72C3-F7C9323E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highlight>
                  <a:srgbClr val="F6F6F6"/>
                </a:highlight>
                <a:latin typeface="Calibri"/>
                <a:ea typeface="Calibri"/>
                <a:cs typeface="Calibri"/>
                <a:sym typeface="Calibri"/>
              </a:rPr>
              <a:t> By putting the rank of the document in the denominator, it penalizes the documents that are ranked lower in the list.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highlight>
                <a:srgbClr val="F6F6F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https://docs.weaviate.io/weaviate/concepts/search/hybrid-search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50" b="1" dirty="0">
                <a:solidFill>
                  <a:srgbClr val="1A1A1A"/>
                </a:solidFill>
                <a:highlight>
                  <a:srgbClr val="F6F6F6"/>
                </a:highlight>
                <a:latin typeface="Roboto"/>
                <a:ea typeface="Roboto"/>
                <a:cs typeface="Roboto"/>
                <a:sym typeface="Roboto"/>
              </a:rPr>
              <a:t>https://weaviate.io/blog/hybrid-search-explained</a:t>
            </a: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E27731FB-A25E-BC2D-11A1-BA2CC63CB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46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9478B41-FAFE-8717-B737-1279B5A6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612509C4-D10A-65AA-72DE-07E310149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249AC180-5835-2251-078F-9438E1BDA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56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27769E-F5BD-0FDC-2196-0394B6E8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fc679fb9_0_0:notes">
            <a:extLst>
              <a:ext uri="{FF2B5EF4-FFF2-40B4-BE49-F238E27FC236}">
                <a16:creationId xmlns:a16="http://schemas.microsoft.com/office/drawing/2014/main" id="{87E98A9F-73E3-F06D-7564-F4E4867C6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 dirty="0">
              <a:solidFill>
                <a:srgbClr val="1A1A1A"/>
              </a:solidFill>
              <a:highlight>
                <a:srgbClr val="F6F6F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ffc679fb9_0_0:notes">
            <a:extLst>
              <a:ext uri="{FF2B5EF4-FFF2-40B4-BE49-F238E27FC236}">
                <a16:creationId xmlns:a16="http://schemas.microsoft.com/office/drawing/2014/main" id="{BC1E590D-F128-D55E-02AE-81B3A1529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29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ec8ff1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6" name="Google Shape;146;g3caec8ff105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caec8ff10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094232" y="948627"/>
            <a:ext cx="9144000" cy="15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 Black"/>
              <a:buNone/>
              <a:defRPr sz="42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094232" y="2487168"/>
            <a:ext cx="9144000" cy="57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898A"/>
              </a:buClr>
              <a:buSzPts val="2400"/>
              <a:buNone/>
              <a:defRPr sz="2400">
                <a:solidFill>
                  <a:srgbClr val="8A898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2000"/>
              <a:buNone/>
              <a:defRPr sz="2000">
                <a:solidFill>
                  <a:srgbClr val="8A89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800"/>
              <a:buNone/>
              <a:defRPr sz="1800">
                <a:solidFill>
                  <a:srgbClr val="8A89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98A"/>
              </a:buClr>
              <a:buSzPts val="1600"/>
              <a:buNone/>
              <a:defRPr sz="1600">
                <a:solidFill>
                  <a:srgbClr val="8A898A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2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aec8ff105_0_9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62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 Black"/>
              <a:buNone/>
              <a:defRPr sz="54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 Black"/>
              <a:buNone/>
              <a:defRPr sz="4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aec8ff105_0_18"/>
          <p:cNvSpPr txBox="1">
            <a:spLocks noGrp="1"/>
          </p:cNvSpPr>
          <p:nvPr>
            <p:ph type="ctrTitle"/>
          </p:nvPr>
        </p:nvSpPr>
        <p:spPr>
          <a:xfrm>
            <a:off x="673200" y="1192487"/>
            <a:ext cx="10845600" cy="212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Domain-Specialized Embedding Learning for Medical Retrieval-Augmented Generation (RAG)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94B17-523E-9999-CC96-54BEA6FB7C68}"/>
              </a:ext>
            </a:extLst>
          </p:cNvPr>
          <p:cNvSpPr/>
          <p:nvPr/>
        </p:nvSpPr>
        <p:spPr>
          <a:xfrm>
            <a:off x="1" y="5243804"/>
            <a:ext cx="12192000" cy="13622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buClr>
                <a:schemeClr val="lt1"/>
              </a:buClr>
              <a:buSzPts val="1400"/>
            </a:pPr>
            <a:r>
              <a:rPr lang="en-US" sz="1800" b="1" dirty="0"/>
              <a:t>Aswini Sivakumar, Vishwa Gosavi</a:t>
            </a: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1400"/>
            </a:pPr>
            <a:r>
              <a:rPr lang="en-US" sz="1800" b="1" dirty="0"/>
              <a:t>Presented to: Dr. Tianle Ma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1400"/>
            </a:pPr>
            <a:r>
              <a:rPr lang="en-US" sz="1800" b="1" dirty="0"/>
              <a:t>School of Engineering and Computer Science</a:t>
            </a:r>
          </a:p>
          <a:p>
            <a:pPr algn="ctr">
              <a:lnSpc>
                <a:spcPct val="90000"/>
              </a:lnSpc>
              <a:buClr>
                <a:schemeClr val="lt1"/>
              </a:buClr>
              <a:buSzPts val="1400"/>
            </a:pPr>
            <a:r>
              <a:rPr lang="en-US" sz="1800" b="1" dirty="0"/>
              <a:t>Oakland University</a:t>
            </a: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1400"/>
            </a:pPr>
            <a:r>
              <a:rPr lang="en-US" sz="1800" b="1" dirty="0"/>
              <a:t>April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9CC23208-FB12-D0E4-257A-00188C79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CB39D364-F3A1-A3E0-EF14-CBAE791C95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>
                <a:solidFill>
                  <a:schemeClr val="lt1"/>
                </a:solidFill>
              </a:rPr>
              <a:t>Introduction</a:t>
            </a:r>
            <a:endParaRPr lang="en-US"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AA47337E-43CB-C85B-6DF2-CB576AD09C50}"/>
              </a:ext>
            </a:extLst>
          </p:cNvPr>
          <p:cNvSpPr txBox="1"/>
          <p:nvPr/>
        </p:nvSpPr>
        <p:spPr>
          <a:xfrm>
            <a:off x="304800" y="1285886"/>
            <a:ext cx="5319624" cy="393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Large Language Models (LLMs)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Strong capabilities in natural language understanding and generation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Increasingly used in biomedical QA and clinical NLP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Clinical challenge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LLMs can produce </a:t>
            </a:r>
            <a:r>
              <a:rPr lang="en-US" sz="2000" b="1" dirty="0">
                <a:solidFill>
                  <a:srgbClr val="444444"/>
                </a:solidFill>
              </a:rPr>
              <a:t>hallucinated</a:t>
            </a:r>
            <a:r>
              <a:rPr lang="en-US" sz="2000" dirty="0">
                <a:solidFill>
                  <a:srgbClr val="444444"/>
                </a:solidFill>
              </a:rPr>
              <a:t> or </a:t>
            </a:r>
            <a:r>
              <a:rPr lang="en-US" sz="2000" b="1" dirty="0">
                <a:solidFill>
                  <a:srgbClr val="444444"/>
                </a:solidFill>
              </a:rPr>
              <a:t>factually incorrect responses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High-stakes domains require </a:t>
            </a:r>
            <a:r>
              <a:rPr lang="en-US" sz="2000" b="1" dirty="0">
                <a:solidFill>
                  <a:srgbClr val="444444"/>
                </a:solidFill>
              </a:rPr>
              <a:t>recent</a:t>
            </a:r>
            <a:r>
              <a:rPr lang="en-US" sz="2000" dirty="0">
                <a:solidFill>
                  <a:srgbClr val="444444"/>
                </a:solidFill>
              </a:rPr>
              <a:t>, accurate, evidence-grounded outputs</a:t>
            </a:r>
          </a:p>
          <a:p>
            <a:pPr marL="228600">
              <a:spcBef>
                <a:spcPts val="100"/>
              </a:spcBef>
              <a:buClr>
                <a:srgbClr val="444444"/>
              </a:buClr>
              <a:buSzPts val="1400"/>
            </a:pPr>
            <a:endParaRPr lang="en-US" sz="1800" dirty="0">
              <a:solidFill>
                <a:srgbClr val="444444"/>
              </a:solidFill>
            </a:endParaRPr>
          </a:p>
          <a:p>
            <a:pPr marL="228600">
              <a:spcBef>
                <a:spcPts val="100"/>
              </a:spcBef>
              <a:buClr>
                <a:srgbClr val="444444"/>
              </a:buClr>
              <a:buSzPts val="1400"/>
            </a:pPr>
            <a:endParaRPr lang="en-US" sz="1800" dirty="0">
              <a:solidFill>
                <a:srgbClr val="44444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07552-BF4B-2E0D-34A1-796D71184889}"/>
              </a:ext>
            </a:extLst>
          </p:cNvPr>
          <p:cNvSpPr txBox="1"/>
          <p:nvPr/>
        </p:nvSpPr>
        <p:spPr>
          <a:xfrm>
            <a:off x="5997514" y="1285886"/>
            <a:ext cx="6094562" cy="276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The RAG solution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Retrieval Augmented Generation (RAG) reduces hallucinations by grounding answers in verified external knowledge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The Bottleneck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RAG is only as good as the document it retrieves.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444444"/>
                </a:solidFill>
              </a:rPr>
              <a:t>If retrieval fails, the entire system fails</a:t>
            </a:r>
          </a:p>
        </p:txBody>
      </p:sp>
    </p:spTree>
    <p:extLst>
      <p:ext uri="{BB962C8B-B14F-4D97-AF65-F5344CB8AC3E}">
        <p14:creationId xmlns:p14="http://schemas.microsoft.com/office/powerpoint/2010/main" val="32733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2E3E3DE9-8FF3-583D-D05C-47C6D3C3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52716FE4-DD59-0F15-C7E5-F7AC9D5228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lt1"/>
              </a:buClr>
            </a:pPr>
            <a:r>
              <a:rPr lang="en-US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DC6649D0-F338-B98F-4F52-498E57794093}"/>
              </a:ext>
            </a:extLst>
          </p:cNvPr>
          <p:cNvSpPr txBox="1"/>
          <p:nvPr/>
        </p:nvSpPr>
        <p:spPr>
          <a:xfrm>
            <a:off x="304799" y="1285886"/>
            <a:ext cx="11427125" cy="298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>
              <a:spcBef>
                <a:spcPts val="100"/>
              </a:spcBef>
              <a:buClr>
                <a:srgbClr val="444444"/>
              </a:buClr>
              <a:buSzPts val="1400"/>
            </a:pPr>
            <a:endParaRPr lang="en-US" sz="1600" b="1" dirty="0">
              <a:solidFill>
                <a:srgbClr val="444444"/>
              </a:solidFill>
            </a:endParaRP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The Problem: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Most RAG systems rely on generic embedding models that are not optimized for complex biomedical language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This leads to:</a:t>
            </a:r>
          </a:p>
          <a:p>
            <a:pPr marL="514350" lvl="2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Poor understanding of clinical terminology and abbreviations</a:t>
            </a:r>
          </a:p>
          <a:p>
            <a:pPr marL="514350" lvl="2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Weak semantic matching between user queries and medical texts</a:t>
            </a:r>
          </a:p>
          <a:p>
            <a:pPr marL="514350" lvl="2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Lower retrieval relevance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The cascading effect: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/>
                </a:solidFill>
              </a:rPr>
              <a:t>Low‑quality retrieval → low‑quality generation </a:t>
            </a:r>
            <a:r>
              <a:rPr lang="en-US" sz="1600" dirty="0"/>
              <a:t>(even with a strong LLM).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44444"/>
                </a:solidFill>
              </a:rPr>
              <a:t>The result is less faithful, less trustworthy medical answers</a:t>
            </a:r>
          </a:p>
          <a:p>
            <a:pPr marL="228600">
              <a:spcBef>
                <a:spcPts val="100"/>
              </a:spcBef>
              <a:buClr>
                <a:srgbClr val="444444"/>
              </a:buClr>
              <a:buSzPts val="1400"/>
            </a:pPr>
            <a:endParaRPr lang="en-US" sz="1600" dirty="0">
              <a:solidFill>
                <a:srgbClr val="444444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5D9286-FA26-2F4F-D5B6-AD1B1771903E}"/>
              </a:ext>
            </a:extLst>
          </p:cNvPr>
          <p:cNvSpPr/>
          <p:nvPr/>
        </p:nvSpPr>
        <p:spPr>
          <a:xfrm>
            <a:off x="2883065" y="4648927"/>
            <a:ext cx="6942422" cy="1449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Can domain-specific embedding models significantly improve retrieval quality and reduce hallucinations in medical Retrieval-Augmented Generation (RAG) systems?</a:t>
            </a:r>
            <a:endParaRPr lang="en-US" sz="1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93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26A22BEB-F3B2-9585-BB6B-71D458A4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0B6F5036-9720-9A04-2854-410EEAD760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What is RAG?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B2C52A2B-C080-2E2E-40B9-939C0541D2E6}"/>
              </a:ext>
            </a:extLst>
          </p:cNvPr>
          <p:cNvSpPr txBox="1"/>
          <p:nvPr/>
        </p:nvSpPr>
        <p:spPr>
          <a:xfrm>
            <a:off x="301177" y="1045025"/>
            <a:ext cx="1079070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</a:rPr>
              <a:t>Retrieval Augmented Generation (RAG) is a framework that combines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chemeClr val="accent1"/>
                </a:solidFill>
              </a:rPr>
              <a:t>Information retrieval </a:t>
            </a:r>
          </a:p>
          <a:p>
            <a:pPr marL="457200" indent="-342900">
              <a:spcBef>
                <a:spcPts val="600"/>
              </a:spcBef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chemeClr val="accent1"/>
                </a:solidFill>
              </a:rPr>
              <a:t>Language generation</a:t>
            </a:r>
          </a:p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i="1" dirty="0">
                <a:solidFill>
                  <a:schemeClr val="dk1"/>
                </a:solidFill>
              </a:rPr>
              <a:t>Rather than relying solely on internal memory, the model generates responses grounded in external evidence.</a:t>
            </a:r>
          </a:p>
        </p:txBody>
      </p:sp>
      <p:pic>
        <p:nvPicPr>
          <p:cNvPr id="6" name="Picture 5" descr="The diagram illustrates a workflow for a fine-tuned Weaviate system that uses a Llama model to retrieve and synthesize medical documents and citations based on a top-k retrieval question.&#10;&#10;AI-generated content may be incorrect.">
            <a:extLst>
              <a:ext uri="{FF2B5EF4-FFF2-40B4-BE49-F238E27FC236}">
                <a16:creationId xmlns:a16="http://schemas.microsoft.com/office/drawing/2014/main" id="{5984C625-E3EE-C4C0-071D-0641D3EDF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276" y="3195570"/>
            <a:ext cx="8408242" cy="31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1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C4DEF92D-EABE-DBA6-0FF2-66A98740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AEFFF18B-6C0A-B14B-5516-AC533F5ABA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lt1"/>
              </a:buClr>
            </a:pPr>
            <a:r>
              <a:rPr lang="en-US" b="1" dirty="0">
                <a:solidFill>
                  <a:schemeClr val="bg1"/>
                </a:solidFill>
              </a:rPr>
              <a:t>System Architecture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FBEA39F0-6BA4-16DF-2662-8FE5DFDB6A63}"/>
              </a:ext>
            </a:extLst>
          </p:cNvPr>
          <p:cNvSpPr txBox="1"/>
          <p:nvPr/>
        </p:nvSpPr>
        <p:spPr>
          <a:xfrm>
            <a:off x="381452" y="1099868"/>
            <a:ext cx="10013378" cy="3757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External Knowledge: </a:t>
            </a:r>
            <a:r>
              <a:rPr lang="en-US" dirty="0">
                <a:solidFill>
                  <a:schemeClr val="tx1"/>
                </a:solidFill>
              </a:rPr>
              <a:t>The external knowledge files are chunked, indexed and loaded to vector database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User query: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medical question is entered by the user.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Embedding Model: </a:t>
            </a:r>
            <a:r>
              <a:rPr lang="en-US" dirty="0">
                <a:solidFill>
                  <a:schemeClr val="tx1"/>
                </a:solidFill>
              </a:rPr>
              <a:t>Converts query into a dense vector using our fine‑tuned medical embeddings.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Vector Search (Weaviate): </a:t>
            </a:r>
            <a:r>
              <a:rPr lang="en-US" dirty="0">
                <a:solidFill>
                  <a:schemeClr val="tx1"/>
                </a:solidFill>
              </a:rPr>
              <a:t>Performs similarity search to retrieve top‑k relevant PubMed abstracts.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Context Assembly: </a:t>
            </a:r>
            <a:r>
              <a:rPr lang="en-US" dirty="0">
                <a:solidFill>
                  <a:schemeClr val="tx1"/>
                </a:solidFill>
              </a:rPr>
              <a:t>High‑quality biomedical evidence used as context.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LLM Synthesis: </a:t>
            </a:r>
            <a:r>
              <a:rPr lang="en-US" dirty="0">
                <a:solidFill>
                  <a:schemeClr val="tx1"/>
                </a:solidFill>
              </a:rPr>
              <a:t>LLM processes the context to generate an evidence-grounded answer.</a:t>
            </a: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400"/>
              </a:spcBef>
              <a:buClr>
                <a:srgbClr val="231E20"/>
              </a:buClr>
              <a:buSzPct val="100000"/>
            </a:pPr>
            <a:r>
              <a:rPr lang="en-US" dirty="0">
                <a:solidFill>
                  <a:schemeClr val="tx1"/>
                </a:solidFill>
              </a:rPr>
              <a:t>	</a:t>
            </a:r>
            <a:endParaRPr lang="en-US" dirty="0">
              <a:solidFill>
                <a:schemeClr val="accent1"/>
              </a:solidFill>
            </a:endParaRPr>
          </a:p>
          <a:p>
            <a:pPr>
              <a:spcBef>
                <a:spcPts val="400"/>
              </a:spcBef>
              <a:buClr>
                <a:srgbClr val="231E20"/>
              </a:buClr>
              <a:buSzPct val="100000"/>
            </a:pPr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</a:endParaRPr>
          </a:p>
          <a:p>
            <a:pPr marL="228600">
              <a:spcBef>
                <a:spcPts val="100"/>
              </a:spcBef>
              <a:buClr>
                <a:srgbClr val="444444"/>
              </a:buClr>
              <a:buSzPts val="1400"/>
            </a:pPr>
            <a:endParaRPr lang="en-US" sz="1800" dirty="0">
              <a:solidFill>
                <a:srgbClr val="444444"/>
              </a:solidFill>
            </a:endParaRPr>
          </a:p>
        </p:txBody>
      </p:sp>
      <p:pic>
        <p:nvPicPr>
          <p:cNvPr id="4" name="Picture 3" descr="The diagram illustrates a workflow for a fine-tuned Weaviate system that uses a Llama model to retrieve and synthesize medical documents and citations based on a top-k retrieval question.&#10;&#10;AI-generated content may be incorrect.">
            <a:extLst>
              <a:ext uri="{FF2B5EF4-FFF2-40B4-BE49-F238E27FC236}">
                <a16:creationId xmlns:a16="http://schemas.microsoft.com/office/drawing/2014/main" id="{74F1650E-7AE5-4294-7BEB-F900B55E6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102" y="3021475"/>
            <a:ext cx="7408667" cy="273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68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1DD55402-97EC-2E96-CDFC-595F12AF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96B19E53-5707-90F6-BEB7-7B943AF3DC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Components of RAG</a:t>
            </a:r>
            <a:endParaRPr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1F3BE7-B086-956C-39A1-285B06529E5E}"/>
              </a:ext>
            </a:extLst>
          </p:cNvPr>
          <p:cNvSpPr/>
          <p:nvPr/>
        </p:nvSpPr>
        <p:spPr>
          <a:xfrm>
            <a:off x="381000" y="1726855"/>
            <a:ext cx="3552824" cy="16464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0" algn="ctr">
              <a:spcBef>
                <a:spcPts val="600"/>
              </a:spcBef>
              <a:buClr>
                <a:schemeClr val="dk1"/>
              </a:buClr>
              <a:buSzPts val="1800"/>
            </a:pPr>
            <a:r>
              <a:rPr lang="en-US" sz="1600" b="1" dirty="0">
                <a:solidFill>
                  <a:schemeClr val="dk1"/>
                </a:solidFill>
              </a:rPr>
              <a:t>Vector Database (Weaviate)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Store document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Enables fast semantic search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E1E51B-2197-DC9B-34C8-75271868CB7C}"/>
              </a:ext>
            </a:extLst>
          </p:cNvPr>
          <p:cNvSpPr/>
          <p:nvPr/>
        </p:nvSpPr>
        <p:spPr>
          <a:xfrm>
            <a:off x="4181474" y="1740788"/>
            <a:ext cx="3619500" cy="16464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0" algn="ctr">
              <a:spcBef>
                <a:spcPts val="600"/>
              </a:spcBef>
              <a:buClr>
                <a:schemeClr val="dk1"/>
              </a:buClr>
              <a:buSzPts val="1800"/>
            </a:pPr>
            <a:r>
              <a:rPr lang="en-US" sz="1600" b="1" dirty="0">
                <a:solidFill>
                  <a:schemeClr val="dk1"/>
                </a:solidFill>
              </a:rPr>
              <a:t>Retriever (Embedding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Searches for relevant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Uses semantic similarity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Returns top-k similar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DD9561-47F0-DF8C-0EB4-08603F6C88FA}"/>
              </a:ext>
            </a:extLst>
          </p:cNvPr>
          <p:cNvSpPr/>
          <p:nvPr/>
        </p:nvSpPr>
        <p:spPr>
          <a:xfrm>
            <a:off x="8048624" y="1740787"/>
            <a:ext cx="3762376" cy="16464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0" algn="ctr">
              <a:spcBef>
                <a:spcPts val="600"/>
              </a:spcBef>
              <a:buClr>
                <a:schemeClr val="dk1"/>
              </a:buClr>
              <a:buSzPts val="1800"/>
            </a:pPr>
            <a:r>
              <a:rPr lang="en-US" sz="1600" b="1" dirty="0">
                <a:solidFill>
                  <a:schemeClr val="dk1"/>
                </a:solidFill>
              </a:rPr>
              <a:t>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r>
              <a:rPr lang="en-US" sz="1600" b="1" dirty="0">
                <a:solidFill>
                  <a:schemeClr val="dk1"/>
                </a:solidFill>
              </a:rPr>
              <a:t>Generator (LLM)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Ingests the query and retrieved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Performs reasoning over evidence to generate a grounded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1"/>
              </a:solidFill>
            </a:endParaRPr>
          </a:p>
        </p:txBody>
      </p:sp>
      <p:pic>
        <p:nvPicPr>
          <p:cNvPr id="2" name="Picture 1" descr="The diagram illustrates a workflow for a fine-tuned Weaviate system that uses a Llama model to retrieve and synthesize medical documents and citations based on a top-k retrieval question.&#10;&#10;AI-generated content may be incorrect.">
            <a:extLst>
              <a:ext uri="{FF2B5EF4-FFF2-40B4-BE49-F238E27FC236}">
                <a16:creationId xmlns:a16="http://schemas.microsoft.com/office/drawing/2014/main" id="{203D8003-A539-D71B-0497-B1305B332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487" y="3815105"/>
            <a:ext cx="7408667" cy="273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30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45AD381E-F102-5935-BB47-A573F3AA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EAB62FFF-473A-4770-8B2D-0DC07D9B38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Embedding model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068B1659-2E73-5ACE-8A7B-97F6752D9D30}"/>
              </a:ext>
            </a:extLst>
          </p:cNvPr>
          <p:cNvSpPr txBox="1"/>
          <p:nvPr/>
        </p:nvSpPr>
        <p:spPr>
          <a:xfrm>
            <a:off x="196402" y="1607000"/>
            <a:ext cx="6309173" cy="31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</a:rPr>
              <a:t>What is the purpose of an embedding model?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Convert text to dense vectors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Places </a:t>
            </a:r>
            <a:r>
              <a:rPr lang="en-US" sz="1800" b="1" i="1" dirty="0">
                <a:solidFill>
                  <a:schemeClr val="accent1"/>
                </a:solidFill>
              </a:rPr>
              <a:t>similar concepts closer in the vector space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Captures semantic meaning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Used for retrieval and similarity search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en-US" sz="1800" dirty="0">
              <a:solidFill>
                <a:schemeClr val="dk1"/>
              </a:solidFill>
            </a:endParaRPr>
          </a:p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tx1"/>
                </a:solidFill>
              </a:rPr>
              <a:t>How is it different from the LLM?</a:t>
            </a:r>
          </a:p>
          <a:p>
            <a:pPr marL="45720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sym typeface="Wingdings" panose="05000000000000000000" pitchFamily="2" charset="2"/>
              </a:rPr>
              <a:t>Embedding model  </a:t>
            </a:r>
            <a:r>
              <a:rPr lang="en-US" sz="1800" b="1" i="1" dirty="0">
                <a:solidFill>
                  <a:schemeClr val="accent1"/>
                </a:solidFill>
                <a:sym typeface="Wingdings" panose="05000000000000000000" pitchFamily="2" charset="2"/>
              </a:rPr>
              <a:t>Search</a:t>
            </a:r>
            <a:r>
              <a:rPr lang="en-US" sz="1800" dirty="0">
                <a:solidFill>
                  <a:schemeClr val="dk1"/>
                </a:solidFill>
                <a:sym typeface="Wingdings" panose="05000000000000000000" pitchFamily="2" charset="2"/>
              </a:rPr>
              <a:t> brain</a:t>
            </a:r>
            <a:endParaRPr lang="en-US" sz="1800" dirty="0">
              <a:solidFill>
                <a:schemeClr val="dk1"/>
              </a:solidFill>
            </a:endParaRPr>
          </a:p>
          <a:p>
            <a:pPr marL="45720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LLM </a:t>
            </a:r>
            <a:r>
              <a:rPr lang="en-US" sz="1800" dirty="0">
                <a:solidFill>
                  <a:schemeClr val="dk1"/>
                </a:solidFill>
                <a:sym typeface="Wingdings" panose="05000000000000000000" pitchFamily="2" charset="2"/>
              </a:rPr>
              <a:t> </a:t>
            </a:r>
            <a:r>
              <a:rPr lang="en-US" sz="1800" b="1" i="1" dirty="0">
                <a:solidFill>
                  <a:schemeClr val="accent1"/>
                </a:solidFill>
                <a:sym typeface="Wingdings" panose="05000000000000000000" pitchFamily="2" charset="2"/>
              </a:rPr>
              <a:t>Reasoning</a:t>
            </a:r>
            <a:r>
              <a:rPr lang="en-US" sz="1800" dirty="0">
                <a:solidFill>
                  <a:schemeClr val="dk1"/>
                </a:solidFill>
                <a:sym typeface="Wingdings" panose="05000000000000000000" pitchFamily="2" charset="2"/>
              </a:rPr>
              <a:t> brain </a:t>
            </a:r>
          </a:p>
        </p:txBody>
      </p:sp>
      <p:pic>
        <p:nvPicPr>
          <p:cNvPr id="3" name="Picture 2" descr="The image illustrates a comparison of various medical imaging techniques, including breast cancer screening (mammography), osteoporosis screening (bone density test), and colorectal cancer screening (colonoscopy), all depicted in a two-dimensional vector space to show semantic similarity and spatial proximity.&#10;&#10;AI-generated content may be incorrect.">
            <a:extLst>
              <a:ext uri="{FF2B5EF4-FFF2-40B4-BE49-F238E27FC236}">
                <a16:creationId xmlns:a16="http://schemas.microsoft.com/office/drawing/2014/main" id="{30DB2F21-FA20-A764-2FF0-DF3D055C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158" y="2777088"/>
            <a:ext cx="6309173" cy="351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1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D8EACB6E-87AF-D6A9-4261-370E38FE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C456A0EF-1A38-5F88-A195-5955AF5E5D3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Fine-tuning Embedding model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51F725CB-F07E-AB6E-F39F-BA3E79211536}"/>
              </a:ext>
            </a:extLst>
          </p:cNvPr>
          <p:cNvSpPr txBox="1"/>
          <p:nvPr/>
        </p:nvSpPr>
        <p:spPr>
          <a:xfrm>
            <a:off x="114217" y="1128999"/>
            <a:ext cx="9902941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600" b="1" dirty="0">
                <a:solidFill>
                  <a:schemeClr val="dk1"/>
                </a:solidFill>
              </a:rPr>
              <a:t>What is Contrastive Learning?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>
                <a:solidFill>
                  <a:schemeClr val="accent1"/>
                </a:solidFill>
              </a:rPr>
              <a:t>representation learning technique</a:t>
            </a:r>
            <a:r>
              <a:rPr lang="en-US" sz="1600" dirty="0"/>
              <a:t> that trains models to distinguish between similar and dissimilar data samples.</a:t>
            </a:r>
          </a:p>
          <a:p>
            <a:pPr marL="114300" lvl="0">
              <a:spcBef>
                <a:spcPts val="600"/>
              </a:spcBef>
              <a:buClr>
                <a:schemeClr val="dk1"/>
              </a:buClr>
              <a:buSzPts val="1800"/>
            </a:pPr>
            <a:r>
              <a:rPr lang="en-US" sz="1600" b="1" dirty="0"/>
              <a:t>Training Objective: </a:t>
            </a:r>
          </a:p>
          <a:p>
            <a:pPr marL="45720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Pull similar pairs closer</a:t>
            </a:r>
            <a:r>
              <a:rPr lang="en-US" sz="1600" dirty="0"/>
              <a:t> in embedding space (Question + correct evidence) </a:t>
            </a:r>
          </a:p>
          <a:p>
            <a:pPr marL="45720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Push dissimilar pairs apart </a:t>
            </a:r>
            <a:r>
              <a:rPr lang="en-US" sz="1600" dirty="0"/>
              <a:t>(Question + unrelated evidence)</a:t>
            </a:r>
          </a:p>
          <a:p>
            <a:pPr marL="457200" indent="-34290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/>
              <a:t>Implemented using InfoNCE Loss (Multiple Negatives Ranking Loss) to efficiently use all other abstracts in a batch as negative examples.</a:t>
            </a:r>
          </a:p>
          <a:p>
            <a:pPr marL="114300" lvl="0">
              <a:spcBef>
                <a:spcPts val="600"/>
              </a:spcBef>
              <a:buClr>
                <a:schemeClr val="dk1"/>
              </a:buClr>
              <a:buSzPts val="1800"/>
            </a:pPr>
            <a:r>
              <a:rPr lang="en-US" sz="1600" b="1" dirty="0"/>
              <a:t>Result: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/>
              <a:t>Enables models to learn complex medical </a:t>
            </a:r>
            <a:r>
              <a:rPr lang="en-US" sz="1600" b="1" dirty="0">
                <a:solidFill>
                  <a:schemeClr val="accent1"/>
                </a:solidFill>
              </a:rPr>
              <a:t>semantic relationships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without explicit labels.</a:t>
            </a:r>
          </a:p>
        </p:txBody>
      </p:sp>
      <p:pic>
        <p:nvPicPr>
          <p:cNvPr id="3" name="Picture 2" descr="The diagram illustrates the process of training a MiniLM model for PubMedQA, detailing the steps from preprocessing to positive pair embeddings, and includes various stages such as fine-tuning and negative examples.&#10;&#10;AI-generated content may be incorrect.">
            <a:extLst>
              <a:ext uri="{FF2B5EF4-FFF2-40B4-BE49-F238E27FC236}">
                <a16:creationId xmlns:a16="http://schemas.microsoft.com/office/drawing/2014/main" id="{E838E00C-FA87-2564-6B2B-67117D52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92" y="4294741"/>
            <a:ext cx="9109303" cy="25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6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9C545A7A-83E1-E520-F037-009A4E83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5E391E46-CDC7-6134-9EB2-BB7D89414AB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Experiment Setup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DD79EDBB-6AB8-BF2D-7BAB-9976F7B0D2BF}"/>
              </a:ext>
            </a:extLst>
          </p:cNvPr>
          <p:cNvSpPr txBox="1"/>
          <p:nvPr/>
        </p:nvSpPr>
        <p:spPr>
          <a:xfrm>
            <a:off x="301177" y="1045025"/>
            <a:ext cx="107907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en-US"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en-US"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BE3A-9D60-1FFA-87C9-DC7DD317AD4F}"/>
              </a:ext>
            </a:extLst>
          </p:cNvPr>
          <p:cNvSpPr txBox="1"/>
          <p:nvPr/>
        </p:nvSpPr>
        <p:spPr>
          <a:xfrm>
            <a:off x="193459" y="1242320"/>
            <a:ext cx="7768722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Dataset: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444444"/>
                </a:solidFill>
              </a:rPr>
              <a:t>For finetuning</a:t>
            </a:r>
            <a:r>
              <a:rPr lang="en-US" sz="1400" dirty="0">
                <a:solidFill>
                  <a:srgbClr val="444444"/>
                </a:solidFill>
              </a:rPr>
              <a:t>: PubMedQA – unlabeled split (10,000 samples)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444444"/>
                </a:solidFill>
              </a:rPr>
              <a:t>For evaluation</a:t>
            </a:r>
            <a:r>
              <a:rPr lang="en-US" sz="1400" dirty="0">
                <a:solidFill>
                  <a:srgbClr val="444444"/>
                </a:solidFill>
              </a:rPr>
              <a:t>: PubMedQA – Labeled split (1000 samples)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Embedding models compared: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444444"/>
                </a:solidFill>
              </a:rPr>
              <a:t>Generic Baseline: </a:t>
            </a:r>
            <a:r>
              <a:rPr lang="en-US" dirty="0"/>
              <a:t>all-MiniLM-L12-v2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/>
              <a:t>Domain-specialized: </a:t>
            </a:r>
            <a:r>
              <a:rPr lang="en-US" dirty="0"/>
              <a:t>Our custom mini-pubmedqa-finetuned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Generator: </a:t>
            </a:r>
            <a:r>
              <a:rPr lang="en-US" dirty="0"/>
              <a:t>Llama-3.2-1B-Instruct (prompted for strict Yes/No/Maybe outputs).</a:t>
            </a:r>
          </a:p>
          <a:p>
            <a:pPr marL="285750" indent="-285750">
              <a:spcBef>
                <a:spcPts val="400"/>
              </a:spcBef>
              <a:buClr>
                <a:srgbClr val="231E2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Infrastructure: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444444"/>
                </a:solidFill>
              </a:rPr>
              <a:t>Weaviate Cloud (Vector DB)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444444"/>
                </a:solidFill>
              </a:rPr>
              <a:t>SentenceTransformers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444444"/>
                </a:solidFill>
              </a:rPr>
              <a:t>LangChain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444444"/>
                </a:solidFill>
              </a:rPr>
              <a:t>Google Colab (T4 GPU)</a:t>
            </a:r>
          </a:p>
          <a:p>
            <a:pPr marL="514350" indent="-285750">
              <a:spcBef>
                <a:spcPts val="100"/>
              </a:spcBef>
              <a:buClr>
                <a:srgbClr val="444444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i="1" dirty="0">
                <a:solidFill>
                  <a:srgbClr val="444444"/>
                </a:solidFill>
              </a:rPr>
              <a:t>Gradio 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5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1A877091-40E4-314E-8FA6-30465052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F25E02CA-A50C-DBFD-7890-60BF7B24EA6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Accuracy Evaluation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BE5DFC98-0813-712D-5601-27F17D34F2A0}"/>
              </a:ext>
            </a:extLst>
          </p:cNvPr>
          <p:cNvSpPr txBox="1"/>
          <p:nvPr/>
        </p:nvSpPr>
        <p:spPr>
          <a:xfrm>
            <a:off x="260233" y="1226995"/>
            <a:ext cx="10790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Overall Accuracy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38E2B1-0AF3-BDFA-2328-D99F3346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320575"/>
              </p:ext>
            </p:extLst>
          </p:nvPr>
        </p:nvGraphicFramePr>
        <p:xfrm>
          <a:off x="1451211" y="1674855"/>
          <a:ext cx="6494544" cy="11899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5566">
                  <a:extLst>
                    <a:ext uri="{9D8B030D-6E8A-4147-A177-3AD203B41FA5}">
                      <a16:colId xmlns:a16="http://schemas.microsoft.com/office/drawing/2014/main" val="3771765200"/>
                    </a:ext>
                  </a:extLst>
                </a:gridCol>
                <a:gridCol w="900022">
                  <a:extLst>
                    <a:ext uri="{9D8B030D-6E8A-4147-A177-3AD203B41FA5}">
                      <a16:colId xmlns:a16="http://schemas.microsoft.com/office/drawing/2014/main" val="3596160308"/>
                    </a:ext>
                  </a:extLst>
                </a:gridCol>
                <a:gridCol w="1534478">
                  <a:extLst>
                    <a:ext uri="{9D8B030D-6E8A-4147-A177-3AD203B41FA5}">
                      <a16:colId xmlns:a16="http://schemas.microsoft.com/office/drawing/2014/main" val="1598975883"/>
                    </a:ext>
                  </a:extLst>
                </a:gridCol>
                <a:gridCol w="1534478">
                  <a:extLst>
                    <a:ext uri="{9D8B030D-6E8A-4147-A177-3AD203B41FA5}">
                      <a16:colId xmlns:a16="http://schemas.microsoft.com/office/drawing/2014/main" val="2921774553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Embedding Model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Accuracy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Correct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Total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3738586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all‑MiniLM‑L6‑v2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54.50%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7405073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mini‑pubmedqa‑finetuned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54.70%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547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92372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2A4E5F-43E5-844A-801A-AF6097DCA77E}"/>
              </a:ext>
            </a:extLst>
          </p:cNvPr>
          <p:cNvSpPr txBox="1"/>
          <p:nvPr/>
        </p:nvSpPr>
        <p:spPr>
          <a:xfrm>
            <a:off x="90985" y="3265045"/>
            <a:ext cx="6096000" cy="32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Class‑Wise Performance: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EE47A9-AB9D-8331-39A0-B8C8ABFE2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157622"/>
              </p:ext>
            </p:extLst>
          </p:nvPr>
        </p:nvGraphicFramePr>
        <p:xfrm>
          <a:off x="1396619" y="3820822"/>
          <a:ext cx="6678306" cy="14613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6102">
                  <a:extLst>
                    <a:ext uri="{9D8B030D-6E8A-4147-A177-3AD203B41FA5}">
                      <a16:colId xmlns:a16="http://schemas.microsoft.com/office/drawing/2014/main" val="2428982516"/>
                    </a:ext>
                  </a:extLst>
                </a:gridCol>
                <a:gridCol w="2226102">
                  <a:extLst>
                    <a:ext uri="{9D8B030D-6E8A-4147-A177-3AD203B41FA5}">
                      <a16:colId xmlns:a16="http://schemas.microsoft.com/office/drawing/2014/main" val="2043473120"/>
                    </a:ext>
                  </a:extLst>
                </a:gridCol>
                <a:gridCol w="2226102">
                  <a:extLst>
                    <a:ext uri="{9D8B030D-6E8A-4147-A177-3AD203B41FA5}">
                      <a16:colId xmlns:a16="http://schemas.microsoft.com/office/drawing/2014/main" val="2030419668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Class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all‑MiniLM‑L6‑v2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mini‑pubmedqa‑finetuned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8850425"/>
                  </a:ext>
                </a:extLst>
              </a:tr>
              <a:tr h="3665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Yes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58.33% (322/552)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56.70% (313/552)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806702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No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65.98% (223/338)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68.93% (233/338)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3637904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Maybe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0.00% (0/110)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0.91% (1/110)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324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54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AB8C596D-D967-48D2-18E8-511BBE40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67B6CF2F-7A05-FF4A-24B8-D5919A66CA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lt1"/>
              </a:buClr>
            </a:pPr>
            <a:r>
              <a:rPr lang="en-US" dirty="0">
                <a:solidFill>
                  <a:schemeClr val="bg1"/>
                </a:solidFill>
              </a:rPr>
              <a:t>Conclusion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C21112C1-04C2-78BA-31E9-202F9DB7EDC8}"/>
              </a:ext>
            </a:extLst>
          </p:cNvPr>
          <p:cNvSpPr txBox="1"/>
          <p:nvPr/>
        </p:nvSpPr>
        <p:spPr>
          <a:xfrm>
            <a:off x="392162" y="1759257"/>
            <a:ext cx="107907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Char char="●"/>
            </a:pPr>
            <a:r>
              <a:rPr lang="en-US" sz="1600" dirty="0"/>
              <a:t>Built a complete, end‑to‑end </a:t>
            </a:r>
            <a:r>
              <a:rPr lang="en-US" sz="1600" b="1" dirty="0">
                <a:solidFill>
                  <a:schemeClr val="accent1"/>
                </a:solidFill>
              </a:rPr>
              <a:t>Medical RAG system.</a:t>
            </a:r>
            <a:endParaRPr lang="en-US" sz="1600" dirty="0"/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Char char="●"/>
            </a:pPr>
            <a:r>
              <a:rPr lang="en-US" sz="1600" dirty="0"/>
              <a:t>Successfully fine‑tuned medical embeddings using contrastive learning.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Char char="●"/>
            </a:pPr>
            <a:r>
              <a:rPr lang="en-US" sz="1600" dirty="0"/>
              <a:t>Integrated </a:t>
            </a:r>
            <a:r>
              <a:rPr lang="en-US" sz="1600" b="1" dirty="0">
                <a:solidFill>
                  <a:schemeClr val="accent1"/>
                </a:solidFill>
              </a:rPr>
              <a:t>Weaviate vector search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to retrieve verified PubMed evidence.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Char char="●"/>
            </a:pPr>
            <a:r>
              <a:rPr lang="en-US" sz="1600" dirty="0"/>
              <a:t>Compared </a:t>
            </a:r>
            <a:r>
              <a:rPr lang="en-US" sz="1600" b="1" dirty="0">
                <a:solidFill>
                  <a:schemeClr val="accent1"/>
                </a:solidFill>
              </a:rPr>
              <a:t>generic vs. domain‑fine‑tuned embeddings.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Char char="●"/>
            </a:pPr>
            <a:r>
              <a:rPr lang="en-US" sz="1600" dirty="0"/>
              <a:t>Generated </a:t>
            </a:r>
            <a:r>
              <a:rPr lang="en-US" sz="1600" b="1" dirty="0">
                <a:solidFill>
                  <a:schemeClr val="accent1"/>
                </a:solidFill>
              </a:rPr>
              <a:t>evidence‑grounded answers with citations.</a:t>
            </a:r>
            <a:endParaRPr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21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375DF8BD-C749-53DD-3632-BA04D43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E05D11B1-48B6-AF72-6D95-BF0CCA21AB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Future Work</a:t>
            </a:r>
            <a:endParaRPr dirty="0"/>
          </a:p>
        </p:txBody>
      </p:sp>
      <p:sp>
        <p:nvSpPr>
          <p:cNvPr id="90" name="Google Shape;90;g3cffc679fb9_0_0">
            <a:extLst>
              <a:ext uri="{FF2B5EF4-FFF2-40B4-BE49-F238E27FC236}">
                <a16:creationId xmlns:a16="http://schemas.microsoft.com/office/drawing/2014/main" id="{0B81B56F-FF16-FA07-7BC0-A008AD607EEC}"/>
              </a:ext>
            </a:extLst>
          </p:cNvPr>
          <p:cNvSpPr txBox="1"/>
          <p:nvPr/>
        </p:nvSpPr>
        <p:spPr>
          <a:xfrm>
            <a:off x="205927" y="1397450"/>
            <a:ext cx="10790700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Hard Negative Mining: </a:t>
            </a:r>
            <a:r>
              <a:rPr lang="en-US" sz="1800" dirty="0">
                <a:solidFill>
                  <a:schemeClr val="dk1"/>
                </a:solidFill>
              </a:rPr>
              <a:t>Train the embedding model with closely related but incorrect abstracts (hard negatives) to force the model to learn finer clinical distinctions.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Advanced RAG Architectures: </a:t>
            </a:r>
            <a:r>
              <a:rPr lang="en-US" sz="1800" dirty="0">
                <a:solidFill>
                  <a:schemeClr val="dk1"/>
                </a:solidFill>
              </a:rPr>
              <a:t>Implement Cross-Encoder Re-ranking models to re-order retrieved documents for even higher precision.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Real time clinical Expand the Dataset: </a:t>
            </a:r>
            <a:r>
              <a:rPr lang="en-US" sz="1800" dirty="0">
                <a:solidFill>
                  <a:schemeClr val="dk1"/>
                </a:solidFill>
              </a:rPr>
              <a:t>Train on broader, highly diverse clinical corpora such as MIMIC-III (electronic health records) or full-text PubMed articles.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Rich Answer Generation: </a:t>
            </a:r>
            <a:r>
              <a:rPr lang="en-US" sz="1800" dirty="0">
                <a:solidFill>
                  <a:schemeClr val="dk1"/>
                </a:solidFill>
              </a:rPr>
              <a:t>Expand the LLM prompt to generate detailed, heavily cited clinical summaries rather than simple Yes/No/Maybe outputs.</a:t>
            </a:r>
            <a:endParaRPr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95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672E7993-7D71-6153-6969-4C66A162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fc679fb9_0_0">
            <a:extLst>
              <a:ext uri="{FF2B5EF4-FFF2-40B4-BE49-F238E27FC236}">
                <a16:creationId xmlns:a16="http://schemas.microsoft.com/office/drawing/2014/main" id="{DC19D8C7-8D81-9872-C0B9-07708D39A4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3158" y="163314"/>
            <a:ext cx="91440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 Black"/>
              <a:buNone/>
            </a:pPr>
            <a:r>
              <a:rPr lang="en-US" b="1" dirty="0">
                <a:solidFill>
                  <a:schemeClr val="lt1"/>
                </a:solidFill>
              </a:rPr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19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aec8ff105_0_8"/>
          <p:cNvSpPr txBox="1">
            <a:spLocks noGrp="1"/>
          </p:cNvSpPr>
          <p:nvPr>
            <p:ph type="ctrTitle"/>
          </p:nvPr>
        </p:nvSpPr>
        <p:spPr>
          <a:xfrm>
            <a:off x="1094232" y="948627"/>
            <a:ext cx="9144000" cy="15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caec8ff105_0_8"/>
          <p:cNvSpPr txBox="1">
            <a:spLocks noGrp="1"/>
          </p:cNvSpPr>
          <p:nvPr>
            <p:ph type="subTitle" idx="1"/>
          </p:nvPr>
        </p:nvSpPr>
        <p:spPr>
          <a:xfrm>
            <a:off x="1094232" y="2487168"/>
            <a:ext cx="914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g3caec8ff10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"/>
            <a:ext cx="121920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231E20"/>
      </a:dk1>
      <a:lt1>
        <a:srgbClr val="FEFFFD"/>
      </a:lt1>
      <a:dk2>
        <a:srgbClr val="604F4B"/>
      </a:dk2>
      <a:lt2>
        <a:srgbClr val="DEC499"/>
      </a:lt2>
      <a:accent1>
        <a:srgbClr val="BC955B"/>
      </a:accent1>
      <a:accent2>
        <a:srgbClr val="FF8000"/>
      </a:accent2>
      <a:accent3>
        <a:srgbClr val="FFC800"/>
      </a:accent3>
      <a:accent4>
        <a:srgbClr val="F9DA84"/>
      </a:accent4>
      <a:accent5>
        <a:srgbClr val="CDA572"/>
      </a:accent5>
      <a:accent6>
        <a:srgbClr val="5F4F4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3C38FF-7BE9-435D-B46C-47F266CEED2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d56abe2-b16c-4fb6-8725-2087e44977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3006</TotalTime>
  <Words>1065</Words>
  <Application>Microsoft Office PowerPoint</Application>
  <PresentationFormat>Widescreen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Wingdings</vt:lpstr>
      <vt:lpstr>Calibri</vt:lpstr>
      <vt:lpstr>Arial Black</vt:lpstr>
      <vt:lpstr>Arial</vt:lpstr>
      <vt:lpstr>Aptos</vt:lpstr>
      <vt:lpstr>Courier New</vt:lpstr>
      <vt:lpstr>Roboto</vt:lpstr>
      <vt:lpstr>Office Theme</vt:lpstr>
      <vt:lpstr>Domain-Specialized Embedding Learning for Medical Retrieval-Augmented Generation (RAG)</vt:lpstr>
      <vt:lpstr>Introduction</vt:lpstr>
      <vt:lpstr>Problem Statement</vt:lpstr>
      <vt:lpstr>What is RAG?</vt:lpstr>
      <vt:lpstr>System Architecture</vt:lpstr>
      <vt:lpstr>Components of RAG</vt:lpstr>
      <vt:lpstr>Embedding model</vt:lpstr>
      <vt:lpstr>Fine-tuning Embedding model</vt:lpstr>
      <vt:lpstr>Experiment Setup</vt:lpstr>
      <vt:lpstr>Accuracy Evaluation</vt:lpstr>
      <vt:lpstr>Conclusion</vt:lpstr>
      <vt:lpstr>Future Work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Aswini Sivakumar</cp:lastModifiedBy>
  <cp:revision>147</cp:revision>
  <dcterms:created xsi:type="dcterms:W3CDTF">2024-10-16T19:17:55Z</dcterms:created>
  <dcterms:modified xsi:type="dcterms:W3CDTF">2026-04-13T20:10:24Z</dcterms:modified>
</cp:coreProperties>
</file>